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judges. Today we present the Chip Design Knowledge Assistant, built for the IBM Bob Hackathon under the AI Track. Semiconductor design requires managing thousands of precise physical design rules. Our project brings grounded AI intelligence into the engineer's workflow to make spec discovery fast, accurate, and fully traceable.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 design and layout engineers face a major documentation challenge. PDK rules, DRC decks, and latchup specs are scattered across multi-page manuals. Engineers spend significant time searching through PDFs, causing context switching. Senior leads are interrupted for routine lookups, while using general ungrounded AI models carries the dangerous risk of hallucinated numeric tolerances.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is a domain-specific retrieval-augmented generation platform. Engineers query design specs in natural language and receive answers grounded in indexed documents. Crucially, the system includes source citations down to document sections, and enforces an anti-hallucination threshold—if no supporting context is found, it explicitly refuses to guess.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single FastAPI backend core powers both our React Web UI and our IBM Bob MCP server. Ingested PDFs and Markdown files are chunked with PyMuPDF and embedded using watsonx.ai Slate embeddings into ChromaDB. During queries, ChromaDB retrieves top matching chunks, applies similarity thresholding, and passes verified context to the watsonx.ai Granite 13B model for grounded synthesis.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IBM Bob Model Context Protocol integration is load-bearing. Instead of leaving the editor to open a browser, engineers query design specs directly inside IBM Bob. Bob recognizes the intent and calls our custom MCP tools—such as search_knowledge_base and get_document_sections—delivering grounded answers and citations straight into the coding workflow.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working application in action. Screenshot 1 displays our Assistant dashboard with green backend liveness status. Screenshot 2 shows a grounded answer for a poly gate overhang query with its source citation. Screenshot 3 demonstrates our anti-hallucination safeguard in action on an unindexed query, and Screenshot 4 shows our Knowledge Base and Document management interface.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generic AI chatbots that answer from unverified model memory and risk hallucinating numbers, the Chip Design Knowledge Assistant searches approved documents first. Answers are strictly grounded, fully cited, and backed by automated fallback protection when information is missing—all delivered natively inside IBM Bob via MCP.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terms of qualitative impact, this system reduces lookup friction, minimizes senior engineer interruptions, and provides verifiable document auditability. For future work, we plan to add enterprise PDK connectors, role-based access control, and version-aware process node indexing.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645920"/>
            <a:ext cx="8899855" cy="2011680"/>
          </a:xfrm>
          <a:prstGeom prst="rect">
            <a:avLst/>
          </a:prstGeom>
          <a:noFill/>
        </p:spPr>
        <p:txBody>
          <a:bodyPr wrap="square">
            <a:spAutoFit/>
          </a:bodyPr>
          <a:lstStyle/>
          <a:p>
            <a:pPr>
              <a:defRPr sz="1200" b="1">
                <a:solidFill>
                  <a:srgbClr val="0F62FE"/>
                </a:solidFill>
              </a:defRPr>
            </a:pPr>
            <a:r>
              <a:t>IBM BOB HACKATHON  •  TRACK: AI</a:t>
            </a:r>
          </a:p>
          <a:p>
            <a:pPr>
              <a:spcBef>
                <a:spcPts val="1200"/>
              </a:spcBef>
              <a:defRPr sz="3600" b="1">
                <a:solidFill>
                  <a:srgbClr val="0F172A"/>
                </a:solidFill>
              </a:defRPr>
            </a:pPr>
            <a:r>
              <a:t>Chip Design Knowledge Assistant</a:t>
            </a:r>
          </a:p>
          <a:p>
            <a:pPr>
              <a:spcBef>
                <a:spcPts val="1200"/>
              </a:spcBef>
              <a:defRPr sz="1800">
                <a:solidFill>
                  <a:srgbClr val="475569"/>
                </a:solidFill>
              </a:defRPr>
            </a:pPr>
            <a:r>
              <a:t>Grounded AI Assistance for Semiconductor Design Rules &amp; Verification Specs</a:t>
            </a:r>
          </a:p>
        </p:txBody>
      </p:sp>
      <p:sp>
        <p:nvSpPr>
          <p:cNvPr id="5" name="TextBox 4"/>
          <p:cNvSpPr txBox="1"/>
          <p:nvPr/>
        </p:nvSpPr>
        <p:spPr>
          <a:xfrm>
            <a:off x="1645920" y="4114800"/>
            <a:ext cx="8899855" cy="1097280"/>
          </a:xfrm>
          <a:prstGeom prst="rect">
            <a:avLst/>
          </a:prstGeom>
          <a:noFill/>
        </p:spPr>
        <p:txBody>
          <a:bodyPr wrap="none">
            <a:spAutoFit/>
          </a:bodyPr>
          <a:lstStyle/>
          <a:p>
            <a:pPr>
              <a:defRPr sz="1300" b="1">
                <a:solidFill>
                  <a:srgbClr val="0F172A"/>
                </a:solidFill>
              </a:defRPr>
            </a:pPr>
            <a:r>
              <a:t>Team Name: TODO: Enter Team Name  |  Technology: watsonx.ai + IBM Bob (MCP) + ChromaDB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274320"/>
          </a:xfrm>
          <a:prstGeom prst="rect">
            <a:avLst/>
          </a:prstGeom>
          <a:noFill/>
        </p:spPr>
        <p:txBody>
          <a:bodyPr wrap="square">
            <a:spAutoFit/>
          </a:bodyPr>
          <a:lstStyle/>
          <a:p>
            <a:pPr>
              <a:defRPr sz="1000" b="1">
                <a:solidFill>
                  <a:srgbClr val="0F62FE"/>
                </a:solidFill>
              </a:defRPr>
            </a:pPr>
            <a:r>
              <a:t>CHIP DESIGN KNOWLEDGE ASSISTANT | IBM BOB HACKATHON</a:t>
            </a:r>
          </a:p>
        </p:txBody>
      </p:sp>
      <p:sp>
        <p:nvSpPr>
          <p:cNvPr id="5" name="TextBox 4"/>
          <p:cNvSpPr txBox="1"/>
          <p:nvPr/>
        </p:nvSpPr>
        <p:spPr>
          <a:xfrm>
            <a:off x="731520" y="822960"/>
            <a:ext cx="10728655" cy="548640"/>
          </a:xfrm>
          <a:prstGeom prst="rect">
            <a:avLst/>
          </a:prstGeom>
          <a:noFill/>
        </p:spPr>
        <p:txBody>
          <a:bodyPr wrap="square">
            <a:spAutoFit/>
          </a:bodyPr>
          <a:lstStyle/>
          <a:p>
            <a:pPr>
              <a:defRPr sz="2600" b="1">
                <a:solidFill>
                  <a:srgbClr val="0F172A"/>
                </a:solidFill>
              </a:defRPr>
            </a:pPr>
            <a:r>
              <a:t>The Problem — Information Fragmentation in Chip Design</a:t>
            </a:r>
          </a:p>
        </p:txBody>
      </p:sp>
      <p:sp>
        <p:nvSpPr>
          <p:cNvPr id="6" name="Rounded Rectangle 5"/>
          <p:cNvSpPr/>
          <p:nvPr/>
        </p:nvSpPr>
        <p:spPr>
          <a:xfrm>
            <a:off x="731520" y="1645920"/>
            <a:ext cx="3456432"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2907792" cy="3840480"/>
          </a:xfrm>
          <a:prstGeom prst="rect">
            <a:avLst/>
          </a:prstGeom>
          <a:noFill/>
        </p:spPr>
        <p:txBody>
          <a:bodyPr wrap="square">
            <a:spAutoFit/>
          </a:bodyPr>
          <a:lstStyle/>
          <a:p>
            <a:pPr>
              <a:defRPr sz="1800" b="1">
                <a:solidFill>
                  <a:srgbClr val="0F172A"/>
                </a:solidFill>
              </a:defRPr>
            </a:pPr>
            <a:r>
              <a:t>Fragmented Knowledge</a:t>
            </a:r>
          </a:p>
          <a:p>
            <a:pPr>
              <a:spcBef>
                <a:spcPts val="1400"/>
              </a:spcBef>
              <a:defRPr sz="1400">
                <a:solidFill>
                  <a:srgbClr val="475569"/>
                </a:solidFill>
              </a:defRPr>
            </a:pPr>
            <a:r>
              <a:t>PDK rules, DRC decks, latchup specs, and timing guidelines are spread across multi-page PDFs, wikis, and Markdown files.</a:t>
            </a:r>
          </a:p>
        </p:txBody>
      </p:sp>
      <p:sp>
        <p:nvSpPr>
          <p:cNvPr id="8" name="Rounded Rectangle 7"/>
          <p:cNvSpPr/>
          <p:nvPr/>
        </p:nvSpPr>
        <p:spPr>
          <a:xfrm>
            <a:off x="4370832" y="1645920"/>
            <a:ext cx="3456432"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1920240"/>
            <a:ext cx="2907792" cy="3840480"/>
          </a:xfrm>
          <a:prstGeom prst="rect">
            <a:avLst/>
          </a:prstGeom>
          <a:noFill/>
        </p:spPr>
        <p:txBody>
          <a:bodyPr wrap="square">
            <a:spAutoFit/>
          </a:bodyPr>
          <a:lstStyle/>
          <a:p>
            <a:pPr>
              <a:defRPr sz="1800" b="1">
                <a:solidFill>
                  <a:srgbClr val="0F172A"/>
                </a:solidFill>
              </a:defRPr>
            </a:pPr>
            <a:r>
              <a:t>Workflow Friction</a:t>
            </a:r>
          </a:p>
          <a:p>
            <a:pPr>
              <a:spcBef>
                <a:spcPts val="1400"/>
              </a:spcBef>
              <a:defRPr sz="1400">
                <a:solidFill>
                  <a:srgbClr val="475569"/>
                </a:solidFill>
              </a:defRPr>
            </a:pPr>
            <a:r>
              <a:t>Physical design engineers constantly switch context between EDA layout tools and documentation viewers to locate specific rule tolerances.</a:t>
            </a:r>
          </a:p>
        </p:txBody>
      </p:sp>
      <p:sp>
        <p:nvSpPr>
          <p:cNvPr id="10" name="Rounded Rectangle 9"/>
          <p:cNvSpPr/>
          <p:nvPr/>
        </p:nvSpPr>
        <p:spPr>
          <a:xfrm>
            <a:off x="8010144" y="1645920"/>
            <a:ext cx="3456432"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1920240"/>
            <a:ext cx="2907792" cy="3840480"/>
          </a:xfrm>
          <a:prstGeom prst="rect">
            <a:avLst/>
          </a:prstGeom>
          <a:noFill/>
        </p:spPr>
        <p:txBody>
          <a:bodyPr wrap="square">
            <a:spAutoFit/>
          </a:bodyPr>
          <a:lstStyle/>
          <a:p>
            <a:pPr>
              <a:defRPr sz="1800" b="1">
                <a:solidFill>
                  <a:srgbClr val="0F172A"/>
                </a:solidFill>
              </a:defRPr>
            </a:pPr>
            <a:r>
              <a:t>Hallucination Risk</a:t>
            </a:r>
          </a:p>
          <a:p>
            <a:pPr>
              <a:spcBef>
                <a:spcPts val="1400"/>
              </a:spcBef>
              <a:defRPr sz="1400">
                <a:solidFill>
                  <a:srgbClr val="475569"/>
                </a:solidFill>
              </a:defRPr>
            </a:pPr>
            <a:r>
              <a:t>Generic ungrounded AI models frequently hallucinate numeric values—a major risk when verifying nanometer design tolerances.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274320"/>
          </a:xfrm>
          <a:prstGeom prst="rect">
            <a:avLst/>
          </a:prstGeom>
          <a:noFill/>
        </p:spPr>
        <p:txBody>
          <a:bodyPr wrap="square">
            <a:spAutoFit/>
          </a:bodyPr>
          <a:lstStyle/>
          <a:p>
            <a:pPr>
              <a:defRPr sz="1000" b="1">
                <a:solidFill>
                  <a:srgbClr val="0F62FE"/>
                </a:solidFill>
              </a:defRPr>
            </a:pPr>
            <a:r>
              <a:t>CHIP DESIGN KNOWLEDGE ASSISTANT | IBM BOB HACKATHON</a:t>
            </a:r>
          </a:p>
        </p:txBody>
      </p:sp>
      <p:sp>
        <p:nvSpPr>
          <p:cNvPr id="5" name="TextBox 4"/>
          <p:cNvSpPr txBox="1"/>
          <p:nvPr/>
        </p:nvSpPr>
        <p:spPr>
          <a:xfrm>
            <a:off x="731520" y="822960"/>
            <a:ext cx="10728655" cy="548640"/>
          </a:xfrm>
          <a:prstGeom prst="rect">
            <a:avLst/>
          </a:prstGeom>
          <a:noFill/>
        </p:spPr>
        <p:txBody>
          <a:bodyPr wrap="square">
            <a:spAutoFit/>
          </a:bodyPr>
          <a:lstStyle/>
          <a:p>
            <a:pPr>
              <a:defRPr sz="2600" b="1">
                <a:solidFill>
                  <a:srgbClr val="0F172A"/>
                </a:solidFill>
              </a:defRPr>
            </a:pPr>
            <a:r>
              <a:t>The Solution — Grounded Chip Design Assistant</a:t>
            </a:r>
          </a:p>
        </p:txBody>
      </p:sp>
      <p:sp>
        <p:nvSpPr>
          <p:cNvPr id="6" name="Rounded Rectangle 5"/>
          <p:cNvSpPr/>
          <p:nvPr/>
        </p:nvSpPr>
        <p:spPr>
          <a:xfrm>
            <a:off x="731520" y="1645920"/>
            <a:ext cx="512064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572000" cy="3840480"/>
          </a:xfrm>
          <a:prstGeom prst="rect">
            <a:avLst/>
          </a:prstGeom>
          <a:noFill/>
        </p:spPr>
        <p:txBody>
          <a:bodyPr wrap="square">
            <a:spAutoFit/>
          </a:bodyPr>
          <a:lstStyle/>
          <a:p>
            <a:pPr>
              <a:defRPr sz="2000" b="1">
                <a:solidFill>
                  <a:srgbClr val="0F172A"/>
                </a:solidFill>
              </a:defRPr>
            </a:pPr>
            <a:r>
              <a:t>Grounded RAG Intelligence</a:t>
            </a:r>
          </a:p>
          <a:p>
            <a:pPr>
              <a:spcBef>
                <a:spcPts val="1200"/>
              </a:spcBef>
              <a:defRPr sz="1400">
                <a:solidFill>
                  <a:srgbClr val="475569"/>
                </a:solidFill>
              </a:defRPr>
            </a:pPr>
            <a:r>
              <a:t>Engineers ask natural-language questions and receive answers strictly grounded in indexed semiconductor documentation.</a:t>
            </a:r>
          </a:p>
        </p:txBody>
      </p:sp>
      <p:sp>
        <p:nvSpPr>
          <p:cNvPr id="8" name="Rounded Rectangle 7"/>
          <p:cNvSpPr/>
          <p:nvPr/>
        </p:nvSpPr>
        <p:spPr>
          <a:xfrm>
            <a:off x="6035040" y="1645920"/>
            <a:ext cx="5425135" cy="960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755648"/>
            <a:ext cx="5059375" cy="731520"/>
          </a:xfrm>
          <a:prstGeom prst="rect">
            <a:avLst/>
          </a:prstGeom>
          <a:noFill/>
        </p:spPr>
        <p:txBody>
          <a:bodyPr wrap="square">
            <a:spAutoFit/>
          </a:bodyPr>
          <a:lstStyle/>
          <a:p>
            <a:pPr>
              <a:defRPr sz="1500" b="1">
                <a:solidFill>
                  <a:srgbClr val="0F62FE"/>
                </a:solidFill>
              </a:defRPr>
            </a:pPr>
            <a:r>
              <a:t>Semantic Vector Search</a:t>
            </a:r>
          </a:p>
          <a:p>
            <a:pPr>
              <a:defRPr sz="1200">
                <a:solidFill>
                  <a:srgbClr val="475569"/>
                </a:solidFill>
              </a:defRPr>
            </a:pPr>
            <a:r>
              <a:t>Indexes PDF, Markdown, and TXT specs into ChromaDB vector storage.</a:t>
            </a:r>
          </a:p>
        </p:txBody>
      </p:sp>
      <p:sp>
        <p:nvSpPr>
          <p:cNvPr id="10" name="Rounded Rectangle 9"/>
          <p:cNvSpPr/>
          <p:nvPr/>
        </p:nvSpPr>
        <p:spPr>
          <a:xfrm>
            <a:off x="6035040" y="2743200"/>
            <a:ext cx="5425135" cy="960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2852928"/>
            <a:ext cx="5059375" cy="731520"/>
          </a:xfrm>
          <a:prstGeom prst="rect">
            <a:avLst/>
          </a:prstGeom>
          <a:noFill/>
        </p:spPr>
        <p:txBody>
          <a:bodyPr wrap="square">
            <a:spAutoFit/>
          </a:bodyPr>
          <a:lstStyle/>
          <a:p>
            <a:pPr>
              <a:defRPr sz="1500" b="1">
                <a:solidFill>
                  <a:srgbClr val="0F62FE"/>
                </a:solidFill>
              </a:defRPr>
            </a:pPr>
            <a:r>
              <a:t>Source Document Citations</a:t>
            </a:r>
          </a:p>
          <a:p>
            <a:pPr>
              <a:defRPr sz="1200">
                <a:solidFill>
                  <a:srgbClr val="475569"/>
                </a:solidFill>
              </a:defRPr>
            </a:pPr>
            <a:r>
              <a:t>Attaches exact document titles, sections, and similarity scores to answers.</a:t>
            </a:r>
          </a:p>
        </p:txBody>
      </p:sp>
      <p:sp>
        <p:nvSpPr>
          <p:cNvPr id="12" name="Rounded Rectangle 11"/>
          <p:cNvSpPr/>
          <p:nvPr/>
        </p:nvSpPr>
        <p:spPr>
          <a:xfrm>
            <a:off x="6035040" y="3840480"/>
            <a:ext cx="5425135" cy="960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950208"/>
            <a:ext cx="5059375" cy="731520"/>
          </a:xfrm>
          <a:prstGeom prst="rect">
            <a:avLst/>
          </a:prstGeom>
          <a:noFill/>
        </p:spPr>
        <p:txBody>
          <a:bodyPr wrap="square">
            <a:spAutoFit/>
          </a:bodyPr>
          <a:lstStyle/>
          <a:p>
            <a:pPr>
              <a:defRPr sz="1500" b="1">
                <a:solidFill>
                  <a:srgbClr val="0F62FE"/>
                </a:solidFill>
              </a:defRPr>
            </a:pPr>
            <a:r>
              <a:t>Anti-Hallucination Safeguards</a:t>
            </a:r>
          </a:p>
          <a:p>
            <a:pPr>
              <a:defRPr sz="1200">
                <a:solidFill>
                  <a:srgbClr val="475569"/>
                </a:solidFill>
              </a:defRPr>
            </a:pPr>
            <a:r>
              <a:t>Low-confidence thresholding (0.30) returns an explicit fallback message when evidence is missing.</a:t>
            </a:r>
          </a:p>
        </p:txBody>
      </p:sp>
      <p:sp>
        <p:nvSpPr>
          <p:cNvPr id="14" name="Rounded Rectangle 13"/>
          <p:cNvSpPr/>
          <p:nvPr/>
        </p:nvSpPr>
        <p:spPr>
          <a:xfrm>
            <a:off x="6035040" y="4937759"/>
            <a:ext cx="5425135" cy="960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5047487"/>
            <a:ext cx="5059375" cy="731520"/>
          </a:xfrm>
          <a:prstGeom prst="rect">
            <a:avLst/>
          </a:prstGeom>
          <a:noFill/>
        </p:spPr>
        <p:txBody>
          <a:bodyPr wrap="square">
            <a:spAutoFit/>
          </a:bodyPr>
          <a:lstStyle/>
          <a:p>
            <a:pPr>
              <a:defRPr sz="1500" b="1">
                <a:solidFill>
                  <a:srgbClr val="0F62FE"/>
                </a:solidFill>
              </a:defRPr>
            </a:pPr>
            <a:r>
              <a:t>IBM Bob MCP Server</a:t>
            </a:r>
          </a:p>
          <a:p>
            <a:pPr>
              <a:defRPr sz="1200">
                <a:solidFill>
                  <a:srgbClr val="475569"/>
                </a:solidFill>
              </a:defRPr>
            </a:pPr>
            <a:r>
              <a:t>Native Model Context Protocol integration for in-IDE querying directly within IBM Bob.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274320"/>
          </a:xfrm>
          <a:prstGeom prst="rect">
            <a:avLst/>
          </a:prstGeom>
          <a:noFill/>
        </p:spPr>
        <p:txBody>
          <a:bodyPr wrap="square">
            <a:spAutoFit/>
          </a:bodyPr>
          <a:lstStyle/>
          <a:p>
            <a:pPr>
              <a:defRPr sz="1000" b="1">
                <a:solidFill>
                  <a:srgbClr val="0F62FE"/>
                </a:solidFill>
              </a:defRPr>
            </a:pPr>
            <a:r>
              <a:t>CHIP DESIGN KNOWLEDGE ASSISTANT | IBM BOB HACKATHON</a:t>
            </a:r>
          </a:p>
        </p:txBody>
      </p:sp>
      <p:sp>
        <p:nvSpPr>
          <p:cNvPr id="5" name="TextBox 4"/>
          <p:cNvSpPr txBox="1"/>
          <p:nvPr/>
        </p:nvSpPr>
        <p:spPr>
          <a:xfrm>
            <a:off x="731520" y="822960"/>
            <a:ext cx="10728655" cy="548640"/>
          </a:xfrm>
          <a:prstGeom prst="rect">
            <a:avLst/>
          </a:prstGeom>
          <a:noFill/>
        </p:spPr>
        <p:txBody>
          <a:bodyPr wrap="square">
            <a:spAutoFit/>
          </a:bodyPr>
          <a:lstStyle/>
          <a:p>
            <a:pPr>
              <a:defRPr sz="2600" b="1">
                <a:solidFill>
                  <a:srgbClr val="0F172A"/>
                </a:solidFill>
              </a:defRPr>
            </a:pPr>
            <a:r>
              <a:t>System Architecture — Decoupled Dual-Interface RAG</a:t>
            </a:r>
          </a:p>
        </p:txBody>
      </p:sp>
      <p:sp>
        <p:nvSpPr>
          <p:cNvPr id="6" name="Rounded Rectangle 5"/>
          <p:cNvSpPr/>
          <p:nvPr/>
        </p:nvSpPr>
        <p:spPr>
          <a:xfrm>
            <a:off x="731520" y="1645920"/>
            <a:ext cx="10728655"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920240"/>
            <a:ext cx="9997135" cy="3840480"/>
          </a:xfrm>
          <a:prstGeom prst="rect">
            <a:avLst/>
          </a:prstGeom>
          <a:noFill/>
        </p:spPr>
        <p:txBody>
          <a:bodyPr wrap="square">
            <a:spAutoFit/>
          </a:bodyPr>
          <a:lstStyle/>
          <a:p>
            <a:pPr>
              <a:defRPr sz="1800" b="1">
                <a:solidFill>
                  <a:srgbClr val="0F172A"/>
                </a:solidFill>
              </a:defRPr>
            </a:pPr>
            <a:r>
              <a:t>Decoupled Architecture Flow:</a:t>
            </a:r>
          </a:p>
          <a:p>
            <a:br/>
            <a:pPr>
              <a:spcBef>
                <a:spcPts val="1400"/>
              </a:spcBef>
              <a:defRPr sz="1400">
                <a:solidFill>
                  <a:srgbClr val="475569"/>
                </a:solidFill>
              </a:defRPr>
            </a:pPr>
            <a:r>
              <a:t>    1. Client Layer:  React 18 SPA (Web UI)  AND  IBM Bob IDE (via STDIO MCP Transport)</a:t>
            </a:r>
            <a:br/>
            <a:r>
              <a:t>    2. Server Layer:  FastAPI Backend Core (/health, /search, /documents, /categories)</a:t>
            </a:r>
            <a:br/>
            <a:r>
              <a:t>    3. RAG Engine:   PyMuPDF Document Parser + LangChain Heading Splitter + Thresholding (0.30)</a:t>
            </a:r>
            <a:br/>
            <a:r>
              <a:t>    4. Vector Store: ChromaDB Persistent Storage (103 Chunks Indexed)</a:t>
            </a:r>
            <a:br/>
            <a:r>
              <a:t>    5. IBM Cloud AI: watsonx.ai Slate 125m (Embeddings) + Granite 13b Instruct v2 (LLM Generation)</a:t>
            </a: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274320"/>
          </a:xfrm>
          <a:prstGeom prst="rect">
            <a:avLst/>
          </a:prstGeom>
          <a:noFill/>
        </p:spPr>
        <p:txBody>
          <a:bodyPr wrap="square">
            <a:spAutoFit/>
          </a:bodyPr>
          <a:lstStyle/>
          <a:p>
            <a:pPr>
              <a:defRPr sz="1000" b="1">
                <a:solidFill>
                  <a:srgbClr val="0F62FE"/>
                </a:solidFill>
              </a:defRPr>
            </a:pPr>
            <a:r>
              <a:t>CHIP DESIGN KNOWLEDGE ASSISTANT | IBM BOB HACKATHON</a:t>
            </a:r>
          </a:p>
        </p:txBody>
      </p:sp>
      <p:sp>
        <p:nvSpPr>
          <p:cNvPr id="5" name="TextBox 4"/>
          <p:cNvSpPr txBox="1"/>
          <p:nvPr/>
        </p:nvSpPr>
        <p:spPr>
          <a:xfrm>
            <a:off x="731520" y="822960"/>
            <a:ext cx="10728655" cy="548640"/>
          </a:xfrm>
          <a:prstGeom prst="rect">
            <a:avLst/>
          </a:prstGeom>
          <a:noFill/>
        </p:spPr>
        <p:txBody>
          <a:bodyPr wrap="square">
            <a:spAutoFit/>
          </a:bodyPr>
          <a:lstStyle/>
          <a:p>
            <a:pPr>
              <a:defRPr sz="2600" b="1">
                <a:solidFill>
                  <a:srgbClr val="0F172A"/>
                </a:solidFill>
              </a:defRPr>
            </a:pPr>
            <a:r>
              <a:t>Load-Bearing IBM Bob Model Context Protocol (MCP) Integration</a:t>
            </a:r>
          </a:p>
        </p:txBody>
      </p:sp>
      <p:sp>
        <p:nvSpPr>
          <p:cNvPr id="6" name="Rounded Rectangle 5"/>
          <p:cNvSpPr/>
          <p:nvPr/>
        </p:nvSpPr>
        <p:spPr>
          <a:xfrm>
            <a:off x="731520" y="1645920"/>
            <a:ext cx="512064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572000" cy="3840480"/>
          </a:xfrm>
          <a:prstGeom prst="rect">
            <a:avLst/>
          </a:prstGeom>
          <a:noFill/>
        </p:spPr>
        <p:txBody>
          <a:bodyPr wrap="square">
            <a:spAutoFit/>
          </a:bodyPr>
          <a:lstStyle/>
          <a:p>
            <a:pPr>
              <a:defRPr sz="2000" b="1">
                <a:solidFill>
                  <a:srgbClr val="0F172A"/>
                </a:solidFill>
              </a:defRPr>
            </a:pPr>
            <a:r>
              <a:t>In-IDE Knowledge Access</a:t>
            </a:r>
          </a:p>
          <a:p>
            <a:pPr>
              <a:spcBef>
                <a:spcPts val="1200"/>
              </a:spcBef>
              <a:defRPr sz="1400">
                <a:solidFill>
                  <a:srgbClr val="475569"/>
                </a:solidFill>
              </a:defRPr>
            </a:pPr>
            <a:r>
              <a:t>IBM Bob acts as the engineer-facing orchestration layer, connecting directly to our FastAPI backend using standard Model Context Protocol (MCP) STDIO tools.</a:t>
            </a:r>
          </a:p>
        </p:txBody>
      </p:sp>
      <p:sp>
        <p:nvSpPr>
          <p:cNvPr id="8" name="Rounded Rectangle 7"/>
          <p:cNvSpPr/>
          <p:nvPr/>
        </p:nvSpPr>
        <p:spPr>
          <a:xfrm>
            <a:off x="6035040" y="1645920"/>
            <a:ext cx="5425135" cy="960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755648"/>
            <a:ext cx="5059375" cy="731520"/>
          </a:xfrm>
          <a:prstGeom prst="rect">
            <a:avLst/>
          </a:prstGeom>
          <a:noFill/>
        </p:spPr>
        <p:txBody>
          <a:bodyPr wrap="square">
            <a:spAutoFit/>
          </a:bodyPr>
          <a:lstStyle/>
          <a:p>
            <a:pPr>
              <a:defRPr sz="1400" b="1">
                <a:solidFill>
                  <a:srgbClr val="0F62FE"/>
                </a:solidFill>
              </a:defRPr>
            </a:pPr>
            <a:r>
              <a:t>Tool: search_knowledge_base</a:t>
            </a:r>
          </a:p>
          <a:p>
            <a:pPr>
              <a:defRPr sz="1200">
                <a:solidFill>
                  <a:srgbClr val="475569"/>
                </a:solidFill>
              </a:defRPr>
            </a:pPr>
            <a:r>
              <a:t>Executes top-k vector search in ChromaDB, applies thresholding, and runs watsonx.ai grounded generation.</a:t>
            </a:r>
          </a:p>
        </p:txBody>
      </p:sp>
      <p:sp>
        <p:nvSpPr>
          <p:cNvPr id="10" name="Rounded Rectangle 9"/>
          <p:cNvSpPr/>
          <p:nvPr/>
        </p:nvSpPr>
        <p:spPr>
          <a:xfrm>
            <a:off x="6035040" y="2743200"/>
            <a:ext cx="5425135" cy="960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2852928"/>
            <a:ext cx="5059375" cy="731520"/>
          </a:xfrm>
          <a:prstGeom prst="rect">
            <a:avLst/>
          </a:prstGeom>
          <a:noFill/>
        </p:spPr>
        <p:txBody>
          <a:bodyPr wrap="square">
            <a:spAutoFit/>
          </a:bodyPr>
          <a:lstStyle/>
          <a:p>
            <a:pPr>
              <a:defRPr sz="1400" b="1">
                <a:solidFill>
                  <a:srgbClr val="0F62FE"/>
                </a:solidFill>
              </a:defRPr>
            </a:pPr>
            <a:r>
              <a:t>Tool: get_document_sections</a:t>
            </a:r>
          </a:p>
          <a:p>
            <a:pPr>
              <a:defRPr sz="1200">
                <a:solidFill>
                  <a:srgbClr val="475569"/>
                </a:solidFill>
              </a:defRPr>
            </a:pPr>
            <a:r>
              <a:t>Retrieves table of contents and section headings for specific indexed specification documents.</a:t>
            </a:r>
          </a:p>
        </p:txBody>
      </p:sp>
      <p:sp>
        <p:nvSpPr>
          <p:cNvPr id="12" name="Rounded Rectangle 11"/>
          <p:cNvSpPr/>
          <p:nvPr/>
        </p:nvSpPr>
        <p:spPr>
          <a:xfrm>
            <a:off x="6035040" y="3840480"/>
            <a:ext cx="5425135" cy="960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950208"/>
            <a:ext cx="5059375" cy="731520"/>
          </a:xfrm>
          <a:prstGeom prst="rect">
            <a:avLst/>
          </a:prstGeom>
          <a:noFill/>
        </p:spPr>
        <p:txBody>
          <a:bodyPr wrap="square">
            <a:spAutoFit/>
          </a:bodyPr>
          <a:lstStyle/>
          <a:p>
            <a:pPr>
              <a:defRPr sz="1400" b="1">
                <a:solidFill>
                  <a:srgbClr val="0F62FE"/>
                </a:solidFill>
              </a:defRPr>
            </a:pPr>
            <a:r>
              <a:t>Tool: list_ingested_documents</a:t>
            </a:r>
          </a:p>
          <a:p>
            <a:pPr>
              <a:defRPr sz="1200">
                <a:solidFill>
                  <a:srgbClr val="475569"/>
                </a:solidFill>
              </a:defRPr>
            </a:pPr>
            <a:r>
              <a:t>Lists all indexed documents, category metadata, and active chunk counts.</a:t>
            </a:r>
          </a:p>
        </p:txBody>
      </p:sp>
      <p:sp>
        <p:nvSpPr>
          <p:cNvPr id="14" name="Rounded Rectangle 13"/>
          <p:cNvSpPr/>
          <p:nvPr/>
        </p:nvSpPr>
        <p:spPr>
          <a:xfrm>
            <a:off x="6035040" y="4937759"/>
            <a:ext cx="5425135" cy="960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5047487"/>
            <a:ext cx="5059375" cy="731520"/>
          </a:xfrm>
          <a:prstGeom prst="rect">
            <a:avLst/>
          </a:prstGeom>
          <a:noFill/>
        </p:spPr>
        <p:txBody>
          <a:bodyPr wrap="square">
            <a:spAutoFit/>
          </a:bodyPr>
          <a:lstStyle/>
          <a:p>
            <a:pPr>
              <a:defRPr sz="1400" b="1">
                <a:solidFill>
                  <a:srgbClr val="0F62FE"/>
                </a:solidFill>
              </a:defRPr>
            </a:pPr>
            <a:r>
              <a:t>Tool: check_backend_status</a:t>
            </a:r>
          </a:p>
          <a:p>
            <a:pPr>
              <a:defRPr sz="1200">
                <a:solidFill>
                  <a:srgbClr val="475569"/>
                </a:solidFill>
              </a:defRPr>
            </a:pPr>
            <a:r>
              <a:t>Verifies FastAPI health status, ChromaDB liveness, and model configuration.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274320"/>
          </a:xfrm>
          <a:prstGeom prst="rect">
            <a:avLst/>
          </a:prstGeom>
          <a:noFill/>
        </p:spPr>
        <p:txBody>
          <a:bodyPr wrap="square">
            <a:spAutoFit/>
          </a:bodyPr>
          <a:lstStyle/>
          <a:p>
            <a:pPr>
              <a:defRPr sz="1000" b="1">
                <a:solidFill>
                  <a:srgbClr val="0F62FE"/>
                </a:solidFill>
              </a:defRPr>
            </a:pPr>
            <a:r>
              <a:t>CHIP DESIGN KNOWLEDGE ASSISTANT | IBM BOB HACKATHON</a:t>
            </a:r>
          </a:p>
        </p:txBody>
      </p:sp>
      <p:sp>
        <p:nvSpPr>
          <p:cNvPr id="5" name="TextBox 4"/>
          <p:cNvSpPr txBox="1"/>
          <p:nvPr/>
        </p:nvSpPr>
        <p:spPr>
          <a:xfrm>
            <a:off x="731520" y="822960"/>
            <a:ext cx="10728655" cy="548640"/>
          </a:xfrm>
          <a:prstGeom prst="rect">
            <a:avLst/>
          </a:prstGeom>
          <a:noFill/>
        </p:spPr>
        <p:txBody>
          <a:bodyPr wrap="square">
            <a:spAutoFit/>
          </a:bodyPr>
          <a:lstStyle/>
          <a:p>
            <a:pPr>
              <a:defRPr sz="2600" b="1">
                <a:solidFill>
                  <a:srgbClr val="0F172A"/>
                </a:solidFill>
              </a:defRPr>
            </a:pPr>
            <a:r>
              <a:t>Working Product Verification — Interface Screenshots</a:t>
            </a:r>
          </a:p>
        </p:txBody>
      </p:sp>
      <p:pic>
        <p:nvPicPr>
          <p:cNvPr id="6" name="Picture 5" descr="01-home-dashboard.png"/>
          <p:cNvPicPr>
            <a:picLocks noChangeAspect="1"/>
          </p:cNvPicPr>
          <p:nvPr/>
        </p:nvPicPr>
        <p:blipFill>
          <a:blip r:embed="rId2"/>
          <a:stretch>
            <a:fillRect/>
          </a:stretch>
        </p:blipFill>
        <p:spPr>
          <a:xfrm>
            <a:off x="731520" y="1645920"/>
            <a:ext cx="5242255" cy="2103120"/>
          </a:xfrm>
          <a:prstGeom prst="rect">
            <a:avLst/>
          </a:prstGeom>
        </p:spPr>
      </p:pic>
      <p:sp>
        <p:nvSpPr>
          <p:cNvPr id="7" name="TextBox 6"/>
          <p:cNvSpPr txBox="1"/>
          <p:nvPr/>
        </p:nvSpPr>
        <p:spPr>
          <a:xfrm>
            <a:off x="731520" y="3767328"/>
            <a:ext cx="5242255" cy="274320"/>
          </a:xfrm>
          <a:prstGeom prst="rect">
            <a:avLst/>
          </a:prstGeom>
          <a:noFill/>
        </p:spPr>
        <p:txBody>
          <a:bodyPr wrap="none">
            <a:spAutoFit/>
          </a:bodyPr>
          <a:lstStyle/>
          <a:p>
            <a:pPr>
              <a:defRPr sz="1100" b="1">
                <a:solidFill>
                  <a:srgbClr val="0F172A"/>
                </a:solidFill>
              </a:defRPr>
            </a:pPr>
            <a:r>
              <a:t>Assistant Home View (Healthy Backend Status)</a:t>
            </a:r>
          </a:p>
        </p:txBody>
      </p:sp>
      <p:pic>
        <p:nvPicPr>
          <p:cNvPr id="8" name="Picture 7" descr="02-grounded-query.png"/>
          <p:cNvPicPr>
            <a:picLocks noChangeAspect="1"/>
          </p:cNvPicPr>
          <p:nvPr/>
        </p:nvPicPr>
        <p:blipFill>
          <a:blip r:embed="rId3"/>
          <a:stretch>
            <a:fillRect/>
          </a:stretch>
        </p:blipFill>
        <p:spPr>
          <a:xfrm>
            <a:off x="6217920" y="1645920"/>
            <a:ext cx="5242255" cy="2103120"/>
          </a:xfrm>
          <a:prstGeom prst="rect">
            <a:avLst/>
          </a:prstGeom>
        </p:spPr>
      </p:pic>
      <p:sp>
        <p:nvSpPr>
          <p:cNvPr id="9" name="TextBox 8"/>
          <p:cNvSpPr txBox="1"/>
          <p:nvPr/>
        </p:nvSpPr>
        <p:spPr>
          <a:xfrm>
            <a:off x="6217920" y="3767328"/>
            <a:ext cx="5242255" cy="274320"/>
          </a:xfrm>
          <a:prstGeom prst="rect">
            <a:avLst/>
          </a:prstGeom>
          <a:noFill/>
        </p:spPr>
        <p:txBody>
          <a:bodyPr wrap="none">
            <a:spAutoFit/>
          </a:bodyPr>
          <a:lstStyle/>
          <a:p>
            <a:pPr>
              <a:defRPr sz="1100" b="1">
                <a:solidFill>
                  <a:srgbClr val="0F172A"/>
                </a:solidFill>
              </a:defRPr>
            </a:pPr>
            <a:r>
              <a:t>Grounded Query &amp; Document Citation Result</a:t>
            </a:r>
          </a:p>
        </p:txBody>
      </p:sp>
      <p:pic>
        <p:nvPicPr>
          <p:cNvPr id="10" name="Picture 9" descr="03-citation-result.png"/>
          <p:cNvPicPr>
            <a:picLocks noChangeAspect="1"/>
          </p:cNvPicPr>
          <p:nvPr/>
        </p:nvPicPr>
        <p:blipFill>
          <a:blip r:embed="rId4"/>
          <a:stretch>
            <a:fillRect/>
          </a:stretch>
        </p:blipFill>
        <p:spPr>
          <a:xfrm>
            <a:off x="731520" y="4114800"/>
            <a:ext cx="5242255" cy="2103120"/>
          </a:xfrm>
          <a:prstGeom prst="rect">
            <a:avLst/>
          </a:prstGeom>
        </p:spPr>
      </p:pic>
      <p:sp>
        <p:nvSpPr>
          <p:cNvPr id="11" name="TextBox 10"/>
          <p:cNvSpPr txBox="1"/>
          <p:nvPr/>
        </p:nvSpPr>
        <p:spPr>
          <a:xfrm>
            <a:off x="731520" y="6236208"/>
            <a:ext cx="5242255" cy="274320"/>
          </a:xfrm>
          <a:prstGeom prst="rect">
            <a:avLst/>
          </a:prstGeom>
          <a:noFill/>
        </p:spPr>
        <p:txBody>
          <a:bodyPr wrap="none">
            <a:spAutoFit/>
          </a:bodyPr>
          <a:lstStyle/>
          <a:p>
            <a:pPr>
              <a:defRPr sz="1100" b="1">
                <a:solidFill>
                  <a:srgbClr val="0F172A"/>
                </a:solidFill>
              </a:defRPr>
            </a:pPr>
            <a:r>
              <a:t>Anti-Hallucination Fallback Safeguard</a:t>
            </a:r>
          </a:p>
        </p:txBody>
      </p:sp>
      <p:pic>
        <p:nvPicPr>
          <p:cNvPr id="12" name="Picture 11" descr="04-knowledge-base.png"/>
          <p:cNvPicPr>
            <a:picLocks noChangeAspect="1"/>
          </p:cNvPicPr>
          <p:nvPr/>
        </p:nvPicPr>
        <p:blipFill>
          <a:blip r:embed="rId5"/>
          <a:stretch>
            <a:fillRect/>
          </a:stretch>
        </p:blipFill>
        <p:spPr>
          <a:xfrm>
            <a:off x="6217920" y="4114800"/>
            <a:ext cx="5242255" cy="2103120"/>
          </a:xfrm>
          <a:prstGeom prst="rect">
            <a:avLst/>
          </a:prstGeom>
        </p:spPr>
      </p:pic>
      <p:sp>
        <p:nvSpPr>
          <p:cNvPr id="13" name="TextBox 12"/>
          <p:cNvSpPr txBox="1"/>
          <p:nvPr/>
        </p:nvSpPr>
        <p:spPr>
          <a:xfrm>
            <a:off x="6217920" y="6236208"/>
            <a:ext cx="5242255" cy="274320"/>
          </a:xfrm>
          <a:prstGeom prst="rect">
            <a:avLst/>
          </a:prstGeom>
          <a:noFill/>
        </p:spPr>
        <p:txBody>
          <a:bodyPr wrap="none">
            <a:spAutoFit/>
          </a:bodyPr>
          <a:lstStyle/>
          <a:p>
            <a:pPr>
              <a:defRPr sz="1100" b="1">
                <a:solidFill>
                  <a:srgbClr val="0F172A"/>
                </a:solidFill>
              </a:defRPr>
            </a:pPr>
            <a:r>
              <a:t>Knowledge Base Overview &amp; Metrics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274320"/>
          </a:xfrm>
          <a:prstGeom prst="rect">
            <a:avLst/>
          </a:prstGeom>
          <a:noFill/>
        </p:spPr>
        <p:txBody>
          <a:bodyPr wrap="square">
            <a:spAutoFit/>
          </a:bodyPr>
          <a:lstStyle/>
          <a:p>
            <a:pPr>
              <a:defRPr sz="1000" b="1">
                <a:solidFill>
                  <a:srgbClr val="0F62FE"/>
                </a:solidFill>
              </a:defRPr>
            </a:pPr>
            <a:r>
              <a:t>CHIP DESIGN KNOWLEDGE ASSISTANT | IBM BOB HACKATHON</a:t>
            </a:r>
          </a:p>
        </p:txBody>
      </p:sp>
      <p:sp>
        <p:nvSpPr>
          <p:cNvPr id="5" name="TextBox 4"/>
          <p:cNvSpPr txBox="1"/>
          <p:nvPr/>
        </p:nvSpPr>
        <p:spPr>
          <a:xfrm>
            <a:off x="731520" y="822960"/>
            <a:ext cx="10728655" cy="548640"/>
          </a:xfrm>
          <a:prstGeom prst="rect">
            <a:avLst/>
          </a:prstGeom>
          <a:noFill/>
        </p:spPr>
        <p:txBody>
          <a:bodyPr wrap="square">
            <a:spAutoFit/>
          </a:bodyPr>
          <a:lstStyle/>
          <a:p>
            <a:pPr>
              <a:defRPr sz="2600" b="1">
                <a:solidFill>
                  <a:srgbClr val="0F172A"/>
                </a:solidFill>
              </a:defRPr>
            </a:pPr>
            <a:r>
              <a:t>Key Differentiation — Grounded Rigor vs Generic AI</a:t>
            </a:r>
          </a:p>
        </p:txBody>
      </p:sp>
      <p:graphicFrame>
        <p:nvGraphicFramePr>
          <p:cNvPr id="6" name="Table 5"/>
          <p:cNvGraphicFramePr>
            <a:graphicFrameLocks noGrp="1"/>
          </p:cNvGraphicFramePr>
          <p:nvPr/>
        </p:nvGraphicFramePr>
        <p:xfrm>
          <a:off x="731520" y="1645920"/>
          <a:ext cx="10727740" cy="4389120"/>
        </p:xfrm>
        <a:graphic>
          <a:graphicData uri="http://schemas.openxmlformats.org/drawingml/2006/table">
            <a:tbl>
              <a:tblPr firstRow="1" bandRow="1">
                <a:tableStyleId>{5C22544A-7EE6-4342-B048-85BDC9FD1C3A}</a:tableStyleId>
              </a:tblPr>
              <a:tblGrid>
                <a:gridCol w="2743200"/>
                <a:gridCol w="3992270"/>
                <a:gridCol w="3992270"/>
              </a:tblGrid>
              <a:tr h="731520">
                <a:tc>
                  <a:txBody>
                    <a:bodyPr/>
                    <a:lstStyle/>
                    <a:p>
                      <a:pPr>
                        <a:defRPr b="1" sz="1300">
                          <a:solidFill>
                            <a:srgbClr val="FFFFFF"/>
                          </a:solidFill>
                        </a:defRPr>
                      </a:pPr>
                      <a:r>
                        <a:t>Dimension</a:t>
                      </a:r>
                    </a:p>
                  </a:txBody>
                  <a:tcPr>
                    <a:solidFill>
                      <a:srgbClr val="0F172A"/>
                    </a:solidFill>
                  </a:tcPr>
                </a:tc>
                <a:tc>
                  <a:txBody>
                    <a:bodyPr/>
                    <a:lstStyle/>
                    <a:p>
                      <a:pPr>
                        <a:defRPr b="1" sz="1300">
                          <a:solidFill>
                            <a:srgbClr val="FFFFFF"/>
                          </a:solidFill>
                        </a:defRPr>
                      </a:pPr>
                      <a:r>
                        <a:t>Generic AI Chatbot</a:t>
                      </a:r>
                    </a:p>
                  </a:txBody>
                  <a:tcPr>
                    <a:solidFill>
                      <a:srgbClr val="0F172A"/>
                    </a:solidFill>
                  </a:tcPr>
                </a:tc>
                <a:tc>
                  <a:txBody>
                    <a:bodyPr/>
                    <a:lstStyle/>
                    <a:p>
                      <a:pPr>
                        <a:defRPr b="1" sz="1300">
                          <a:solidFill>
                            <a:srgbClr val="FFFFFF"/>
                          </a:solidFill>
                        </a:defRPr>
                      </a:pPr>
                      <a:r>
                        <a:t>Chip Design Knowledge Assistant</a:t>
                      </a:r>
                    </a:p>
                  </a:txBody>
                  <a:tcPr>
                    <a:solidFill>
                      <a:srgbClr val="0F172A"/>
                    </a:solidFill>
                  </a:tcPr>
                </a:tc>
              </a:tr>
              <a:tr h="731520">
                <a:tc>
                  <a:txBody>
                    <a:bodyPr/>
                    <a:lstStyle/>
                    <a:p>
                      <a:pPr>
                        <a:defRPr sz="1200">
                          <a:solidFill>
                            <a:srgbClr val="0F172A"/>
                          </a:solidFill>
                        </a:defRPr>
                      </a:pPr>
                      <a:r>
                        <a:t>Knowledge Source</a:t>
                      </a:r>
                    </a:p>
                  </a:txBody>
                  <a:tcPr>
                    <a:solidFill>
                      <a:srgbClr val="F1F5F9"/>
                    </a:solidFill>
                  </a:tcPr>
                </a:tc>
                <a:tc>
                  <a:txBody>
                    <a:bodyPr/>
                    <a:lstStyle/>
                    <a:p>
                      <a:pPr>
                        <a:defRPr sz="1200">
                          <a:solidFill>
                            <a:srgbClr val="0F172A"/>
                          </a:solidFill>
                        </a:defRPr>
                      </a:pPr>
                      <a:r>
                        <a:t>Broad web pre-training memory</a:t>
                      </a:r>
                    </a:p>
                  </a:txBody>
                  <a:tcPr>
                    <a:solidFill>
                      <a:srgbClr val="F1F5F9"/>
                    </a:solidFill>
                  </a:tcPr>
                </a:tc>
                <a:tc>
                  <a:txBody>
                    <a:bodyPr/>
                    <a:lstStyle/>
                    <a:p>
                      <a:pPr>
                        <a:defRPr sz="1200" b="1">
                          <a:solidFill>
                            <a:srgbClr val="0F62FE"/>
                          </a:solidFill>
                        </a:defRPr>
                      </a:pPr>
                      <a:r>
                        <a:t>Approved local PDK &amp; spec documents</a:t>
                      </a:r>
                    </a:p>
                  </a:txBody>
                  <a:tcPr>
                    <a:solidFill>
                      <a:srgbClr val="F1F5F9"/>
                    </a:solidFill>
                  </a:tcPr>
                </a:tc>
              </a:tr>
              <a:tr h="731520">
                <a:tc>
                  <a:txBody>
                    <a:bodyPr/>
                    <a:lstStyle/>
                    <a:p>
                      <a:pPr>
                        <a:defRPr sz="1200">
                          <a:solidFill>
                            <a:srgbClr val="0F172A"/>
                          </a:solidFill>
                        </a:defRPr>
                      </a:pPr>
                      <a:r>
                        <a:t>Numeric Accuracy</a:t>
                      </a:r>
                    </a:p>
                  </a:txBody>
                  <a:tcPr>
                    <a:solidFill>
                      <a:srgbClr val="FFFFFF"/>
                    </a:solidFill>
                  </a:tcPr>
                </a:tc>
                <a:tc>
                  <a:txBody>
                    <a:bodyPr/>
                    <a:lstStyle/>
                    <a:p>
                      <a:pPr>
                        <a:defRPr sz="1200">
                          <a:solidFill>
                            <a:srgbClr val="0F172A"/>
                          </a:solidFill>
                        </a:defRPr>
                      </a:pPr>
                      <a:r>
                        <a:t>May invent plausible tolerances</a:t>
                      </a:r>
                    </a:p>
                  </a:txBody>
                  <a:tcPr>
                    <a:solidFill>
                      <a:srgbClr val="FFFFFF"/>
                    </a:solidFill>
                  </a:tcPr>
                </a:tc>
                <a:tc>
                  <a:txBody>
                    <a:bodyPr/>
                    <a:lstStyle/>
                    <a:p>
                      <a:pPr>
                        <a:defRPr sz="1200" b="1">
                          <a:solidFill>
                            <a:srgbClr val="0F62FE"/>
                          </a:solidFill>
                        </a:defRPr>
                      </a:pPr>
                      <a:r>
                        <a:t>Answers constrained strictly to retrieved context</a:t>
                      </a:r>
                    </a:p>
                  </a:txBody>
                  <a:tcPr>
                    <a:solidFill>
                      <a:srgbClr val="FFFFFF"/>
                    </a:solidFill>
                  </a:tcPr>
                </a:tc>
              </a:tr>
              <a:tr h="731520">
                <a:tc>
                  <a:txBody>
                    <a:bodyPr/>
                    <a:lstStyle/>
                    <a:p>
                      <a:pPr>
                        <a:defRPr sz="1200">
                          <a:solidFill>
                            <a:srgbClr val="0F172A"/>
                          </a:solidFill>
                        </a:defRPr>
                      </a:pPr>
                      <a:r>
                        <a:t>Source Traceability</a:t>
                      </a:r>
                    </a:p>
                  </a:txBody>
                  <a:tcPr>
                    <a:solidFill>
                      <a:srgbClr val="F1F5F9"/>
                    </a:solidFill>
                  </a:tcPr>
                </a:tc>
                <a:tc>
                  <a:txBody>
                    <a:bodyPr/>
                    <a:lstStyle/>
                    <a:p>
                      <a:pPr>
                        <a:defRPr sz="1200">
                          <a:solidFill>
                            <a:srgbClr val="0F172A"/>
                          </a:solidFill>
                        </a:defRPr>
                      </a:pPr>
                      <a:r>
                        <a:t>None or generic web links</a:t>
                      </a:r>
                    </a:p>
                  </a:txBody>
                  <a:tcPr>
                    <a:solidFill>
                      <a:srgbClr val="F1F5F9"/>
                    </a:solidFill>
                  </a:tcPr>
                </a:tc>
                <a:tc>
                  <a:txBody>
                    <a:bodyPr/>
                    <a:lstStyle/>
                    <a:p>
                      <a:pPr>
                        <a:defRPr sz="1200" b="1">
                          <a:solidFill>
                            <a:srgbClr val="0F62FE"/>
                          </a:solidFill>
                        </a:defRPr>
                      </a:pPr>
                      <a:r>
                        <a:t>Section-level document citations</a:t>
                      </a:r>
                    </a:p>
                  </a:txBody>
                  <a:tcPr>
                    <a:solidFill>
                      <a:srgbClr val="F1F5F9"/>
                    </a:solidFill>
                  </a:tcPr>
                </a:tc>
              </a:tr>
              <a:tr h="731520">
                <a:tc>
                  <a:txBody>
                    <a:bodyPr/>
                    <a:lstStyle/>
                    <a:p>
                      <a:pPr>
                        <a:defRPr sz="1200">
                          <a:solidFill>
                            <a:srgbClr val="0F172A"/>
                          </a:solidFill>
                        </a:defRPr>
                      </a:pPr>
                      <a:r>
                        <a:t>Missing Knowledge</a:t>
                      </a:r>
                    </a:p>
                  </a:txBody>
                  <a:tcPr>
                    <a:solidFill>
                      <a:srgbClr val="FFFFFF"/>
                    </a:solidFill>
                  </a:tcPr>
                </a:tc>
                <a:tc>
                  <a:txBody>
                    <a:bodyPr/>
                    <a:lstStyle/>
                    <a:p>
                      <a:pPr>
                        <a:defRPr sz="1200">
                          <a:solidFill>
                            <a:srgbClr val="0F172A"/>
                          </a:solidFill>
                        </a:defRPr>
                      </a:pPr>
                      <a:r>
                        <a:t>Guesses or hallucinates values</a:t>
                      </a:r>
                    </a:p>
                  </a:txBody>
                  <a:tcPr>
                    <a:solidFill>
                      <a:srgbClr val="FFFFFF"/>
                    </a:solidFill>
                  </a:tcPr>
                </a:tc>
                <a:tc>
                  <a:txBody>
                    <a:bodyPr/>
                    <a:lstStyle/>
                    <a:p>
                      <a:pPr>
                        <a:defRPr sz="1200" b="1">
                          <a:solidFill>
                            <a:srgbClr val="0F62FE"/>
                          </a:solidFill>
                        </a:defRPr>
                      </a:pPr>
                      <a:r>
                        <a:t>Returns explicit low-confidence fallback response</a:t>
                      </a:r>
                    </a:p>
                  </a:txBody>
                  <a:tcPr>
                    <a:solidFill>
                      <a:srgbClr val="FFFFFF"/>
                    </a:solidFill>
                  </a:tcPr>
                </a:tc>
              </a:tr>
              <a:tr h="731520">
                <a:tc>
                  <a:txBody>
                    <a:bodyPr/>
                    <a:lstStyle/>
                    <a:p>
                      <a:pPr>
                        <a:defRPr sz="1200">
                          <a:solidFill>
                            <a:srgbClr val="0F172A"/>
                          </a:solidFill>
                        </a:defRPr>
                      </a:pPr>
                      <a:r>
                        <a:t>Developer Workflow</a:t>
                      </a:r>
                    </a:p>
                  </a:txBody>
                  <a:tcPr>
                    <a:solidFill>
                      <a:srgbClr val="F1F5F9"/>
                    </a:solidFill>
                  </a:tcPr>
                </a:tc>
                <a:tc>
                  <a:txBody>
                    <a:bodyPr/>
                    <a:lstStyle/>
                    <a:p>
                      <a:pPr>
                        <a:defRPr sz="1200">
                          <a:solidFill>
                            <a:srgbClr val="0F172A"/>
                          </a:solidFill>
                        </a:defRPr>
                      </a:pPr>
                      <a:r>
                        <a:t>External browser tab context switch</a:t>
                      </a:r>
                    </a:p>
                  </a:txBody>
                  <a:tcPr>
                    <a:solidFill>
                      <a:srgbClr val="F1F5F9"/>
                    </a:solidFill>
                  </a:tcPr>
                </a:tc>
                <a:tc>
                  <a:txBody>
                    <a:bodyPr/>
                    <a:lstStyle/>
                    <a:p>
                      <a:pPr>
                        <a:defRPr sz="1200" b="1">
                          <a:solidFill>
                            <a:srgbClr val="0F62FE"/>
                          </a:solidFill>
                        </a:defRPr>
                      </a:pPr>
                      <a:r>
                        <a:t>Embedded in IDE via IBM Bob MCP integration</a:t>
                      </a:r>
                    </a:p>
                  </a:txBody>
                  <a:tcPr>
                    <a:solidFill>
                      <a:srgbClr val="F1F5F9"/>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54864"/>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274320"/>
          </a:xfrm>
          <a:prstGeom prst="rect">
            <a:avLst/>
          </a:prstGeom>
          <a:noFill/>
        </p:spPr>
        <p:txBody>
          <a:bodyPr wrap="square">
            <a:spAutoFit/>
          </a:bodyPr>
          <a:lstStyle/>
          <a:p>
            <a:pPr>
              <a:defRPr sz="1000" b="1">
                <a:solidFill>
                  <a:srgbClr val="0F62FE"/>
                </a:solidFill>
              </a:defRPr>
            </a:pPr>
            <a:r>
              <a:t>CHIP DESIGN KNOWLEDGE ASSISTANT | IBM BOB HACKATHON</a:t>
            </a:r>
          </a:p>
        </p:txBody>
      </p:sp>
      <p:sp>
        <p:nvSpPr>
          <p:cNvPr id="5" name="TextBox 4"/>
          <p:cNvSpPr txBox="1"/>
          <p:nvPr/>
        </p:nvSpPr>
        <p:spPr>
          <a:xfrm>
            <a:off x="731520" y="822960"/>
            <a:ext cx="10728655" cy="548640"/>
          </a:xfrm>
          <a:prstGeom prst="rect">
            <a:avLst/>
          </a:prstGeom>
          <a:noFill/>
        </p:spPr>
        <p:txBody>
          <a:bodyPr wrap="square">
            <a:spAutoFit/>
          </a:bodyPr>
          <a:lstStyle/>
          <a:p>
            <a:pPr>
              <a:defRPr sz="2600" b="1">
                <a:solidFill>
                  <a:srgbClr val="0F172A"/>
                </a:solidFill>
              </a:defRPr>
            </a:pPr>
            <a:r>
              <a:t>Impact &amp; Future Roadmap</a:t>
            </a:r>
          </a:p>
        </p:txBody>
      </p:sp>
      <p:sp>
        <p:nvSpPr>
          <p:cNvPr id="6" name="Rounded Rectangle 5"/>
          <p:cNvSpPr/>
          <p:nvPr/>
        </p:nvSpPr>
        <p:spPr>
          <a:xfrm>
            <a:off x="731520" y="1645920"/>
            <a:ext cx="5120640"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572000" cy="3840480"/>
          </a:xfrm>
          <a:prstGeom prst="rect">
            <a:avLst/>
          </a:prstGeom>
          <a:noFill/>
        </p:spPr>
        <p:txBody>
          <a:bodyPr wrap="square">
            <a:spAutoFit/>
          </a:bodyPr>
          <a:lstStyle/>
          <a:p>
            <a:pPr>
              <a:defRPr sz="2000" b="1">
                <a:solidFill>
                  <a:srgbClr val="0F172A"/>
                </a:solidFill>
              </a:defRPr>
            </a:pPr>
            <a:r>
              <a:t>Qualitative Value Delivered</a:t>
            </a:r>
          </a:p>
          <a:p>
            <a:br/>
            <a:pPr>
              <a:spcBef>
                <a:spcPts val="1200"/>
              </a:spcBef>
              <a:defRPr sz="1300">
                <a:solidFill>
                  <a:srgbClr val="475569"/>
                </a:solidFill>
              </a:defRPr>
            </a:pPr>
            <a:r>
              <a:t>    • Faster Discovery: Eliminates manual PDF searching for physical design rules and DRC tolerances.</a:t>
            </a:r>
            <a:br/>
            <a:r>
              <a:t>    </a:t>
            </a:r>
            <a:br/>
            <a:r>
              <a:t>    • Reduced Interruption: Reduces routine reference questions directed at senior layout leads.</a:t>
            </a:r>
            <a:br/>
            <a:r>
              <a:t>    </a:t>
            </a:r>
            <a:br/>
            <a:r>
              <a:t>    • Verifiable Auditability: Attaches section-level document metadata to every answer for peer verification.</a:t>
            </a:r>
            <a:br/>
            <a:r>
              <a:t>    </a:t>
            </a:r>
          </a:p>
        </p:txBody>
      </p:sp>
      <p:sp>
        <p:nvSpPr>
          <p:cNvPr id="8" name="Rounded Rectangle 7"/>
          <p:cNvSpPr/>
          <p:nvPr/>
        </p:nvSpPr>
        <p:spPr>
          <a:xfrm>
            <a:off x="6035040" y="1645920"/>
            <a:ext cx="5425135" cy="4389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920240"/>
            <a:ext cx="4876495" cy="3840480"/>
          </a:xfrm>
          <a:prstGeom prst="rect">
            <a:avLst/>
          </a:prstGeom>
          <a:noFill/>
        </p:spPr>
        <p:txBody>
          <a:bodyPr wrap="square">
            <a:spAutoFit/>
          </a:bodyPr>
          <a:lstStyle/>
          <a:p>
            <a:pPr>
              <a:defRPr sz="2000" b="1">
                <a:solidFill>
                  <a:srgbClr val="0F62FE"/>
                </a:solidFill>
              </a:defRPr>
            </a:pPr>
            <a:r>
              <a:t>Future Roadmap (Planned Extensions)</a:t>
            </a:r>
          </a:p>
          <a:p>
            <a:br/>
            <a:pPr>
              <a:spcBef>
                <a:spcPts val="1200"/>
              </a:spcBef>
              <a:defRPr sz="1300">
                <a:solidFill>
                  <a:srgbClr val="475569"/>
                </a:solidFill>
              </a:defRPr>
            </a:pPr>
            <a:r>
              <a:t>    • Enterprise PDK Connectors: Connectors for proprietary foundry rulebooks &amp; internal CAD wikis.</a:t>
            </a:r>
            <a:br/>
            <a:r>
              <a:t>    </a:t>
            </a:r>
            <a:br/>
            <a:r>
              <a:t>    • Access Control &amp; RBAC: Multi-tenant role-based security for proprietary design projects.</a:t>
            </a:r>
            <a:br/>
            <a:r>
              <a:t>    </a:t>
            </a:r>
            <a:br/>
            <a:r>
              <a:t>    • Version-Aware Knowledge: Process node tagging to distinguish 7nm vs 5nm rule decks.</a:t>
            </a:r>
            <a:br/>
            <a: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